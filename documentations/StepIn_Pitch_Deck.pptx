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612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A1612"/>
                </a:solidFill>
                <a:latin typeface="Arial"/>
              </a:rPr>
              <a:t>Estimated Addressable Users by Language Group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Immigrants</c:v>
                </c:pt>
              </c:strCache>
            </c:strRef>
          </c:tx>
          <c:spPr>
            <a:solidFill>
              <a:srgbClr val="E860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D342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489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5A1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F489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95A1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601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F489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D95A18"/>
              </a:solidFill>
              <a:effectLst/>
            </c:spPr>
          </c:dPt>
          <c:cat>
            <c:multiLvlStrRef>
              <c:f>Sheet1!$A$2:$A$10</c:f>
              <c:multiLvlStrCache>
                <c:ptCount val="9"/>
                <c:lvl>
                  <c:pt idx="0">
                    <c:v>Turkish</c:v>
                  </c:pt>
                  <c:pt idx="1">
                    <c:v>Polish</c:v>
                  </c:pt>
                  <c:pt idx="2">
                    <c:v>Arabic</c:v>
                  </c:pt>
                  <c:pt idx="3">
                    <c:v>Ukrainian</c:v>
                  </c:pt>
                  <c:pt idx="4">
                    <c:v>Romanian</c:v>
                  </c:pt>
                  <c:pt idx="5">
                    <c:v>Bulgarian</c:v>
                  </c:pt>
                  <c:pt idx="6">
                    <c:v>Italian</c:v>
                  </c:pt>
                  <c:pt idx="7">
                    <c:v>Farsi</c:v>
                  </c:pt>
                  <c:pt idx="8">
                    <c:v>French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52000</c:v>
                </c:pt>
                <c:pt idx="1">
                  <c:v>46000</c:v>
                </c:pt>
                <c:pt idx="2">
                  <c:v>38000</c:v>
                </c:pt>
                <c:pt idx="3">
                  <c:v>34000</c:v>
                </c:pt>
                <c:pt idx="4">
                  <c:v>22000</c:v>
                </c:pt>
                <c:pt idx="5">
                  <c:v>18000</c:v>
                </c:pt>
                <c:pt idx="6">
                  <c:v>16000</c:v>
                </c:pt>
                <c:pt idx="7">
                  <c:v>14000</c:v>
                </c:pt>
                <c:pt idx="8">
                  <c:v>12000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D342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D34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D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6E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AF7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4978908"/>
            <a:ext cx="640080" cy="164592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978908"/>
            <a:ext cx="64008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4978908"/>
            <a:ext cx="640080" cy="164592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4978908"/>
            <a:ext cx="640080" cy="164592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0" y="4978908"/>
            <a:ext cx="640080" cy="164592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65760"/>
            <a:ext cx="2377440" cy="2377440"/>
          </a:xfrm>
          <a:prstGeom prst="oval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572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StepIn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50292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Accelerating Integration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1508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48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Daily News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your new home — from day one.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hello@stepin.app   ·   stepin.app   ·  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80760" y="137160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302,199</a:t>
            </a:r>
            <a:endParaRPr lang="en-US" sz="3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immigrants</a:t>
            </a:r>
            <a:endParaRPr lang="en-US" sz="3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arrived in the</a:t>
            </a:r>
            <a:endParaRPr lang="en-US" sz="3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Netherlands</a:t>
            </a:r>
            <a:endParaRPr lang="en-US" sz="3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2024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 Takes Too Long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515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051560"/>
            <a:ext cx="1938528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21615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302,199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Immigrants Annually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1965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Netherlands (CBS 2024)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542032" y="10515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051560"/>
            <a:ext cx="1938528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42032" y="121615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2+ years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542032" y="1737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Wait Before Integration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1965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Formal program delay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672584" y="10515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72584" y="1051560"/>
            <a:ext cx="1938528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21615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672584" y="1737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Unknown Education Level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72584" y="1965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Among status holders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03136" y="1051560"/>
            <a:ext cx="193852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1051560"/>
            <a:ext cx="1938528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21615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€3,250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6803136" y="17373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Interpretation Cost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03136" y="1965960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status holder / year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480" y="2651760"/>
            <a:ext cx="8321040" cy="1143000"/>
          </a:xfrm>
          <a:prstGeom prst="rect">
            <a:avLst/>
          </a:prstGeom>
          <a:solidFill>
            <a:srgbClr val="FDEBD8"/>
          </a:solidFill>
          <a:ln w="12700">
            <a:solidFill>
              <a:srgbClr val="FDEB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2651760"/>
            <a:ext cx="54864" cy="114300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2697480"/>
            <a:ext cx="7955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4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"Waiting times are too long, combining work with language lessons remains difficult, and too many status holders lack sustainable employment."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State Secretary Nobel, 2026 Interim Evaluation of the Civic Integration Act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3913632"/>
            <a:ext cx="8321040" cy="8686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Municipalities spend €2,500–4,000 per status holder on interpretation annually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scalable, zero-cost tool exists for daily language and civic exposure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INSIGHT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= Civic Participation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24128"/>
            <a:ext cx="8321040" cy="10058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069848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finding: </a:t>
            </a:r>
            <a:pPr indent="0" marL="0">
              <a:buNone/>
            </a:pPr>
            <a:r>
              <a:rPr lang="en-US" sz="1300" i="1" dirty="0">
                <a:solidFill>
                  <a:srgbClr val="FDEB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"Higher proficiency in the host-country language is positively and directly associated with greater civic engagement among immigrants — particularly for recent arrivals."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901952"/>
            <a:ext cx="7955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Boyd (2012) — Canadian Ethnic Diversity Survey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1480" y="2148840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148840"/>
            <a:ext cx="267004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Host-Language Media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25786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Positively linked to language proficiency, host-language preference, and political knowledge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(Dalisay, 2012)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2148840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27832" y="2148840"/>
            <a:ext cx="267004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Native-Language Media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5786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Facilitates integration by helping immigrants understand institutions, opportunities, and pathways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(Zhou &amp; Cai, 2002)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44184" y="2148840"/>
            <a:ext cx="26700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44184" y="2148840"/>
            <a:ext cx="267004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2240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Balanced Use = Best Outcomes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53912" y="257860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Empirical studies show dual media use leads to better adaptation than reliance on either alone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(Reis 2010; Mao 2015)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187952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gap: No tool exists that combines both native-language access AND host-language acquisition simultaneously.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StepIn: A Dual-Mode News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875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24/7 · Immediate access · Zero cost to municipalities · Via Telegram (no app install)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353312"/>
            <a:ext cx="3977640" cy="30175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486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 Native Language Mode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Dutch news translated into 9 languages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194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Turkish  ·  Arabic  ·  Polish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Ukrainian  ·  Farsi  ·  French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Italian  ·  Romanian  ·  Bulgarian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comprehension of Dutch society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day one — no Dutch required.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For: New arrivals, status holders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1353312"/>
            <a:ext cx="3977640" cy="3017520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4630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📖  Dutch Learner Mode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828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Simplified Dutch + vocabulary translations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21945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A2 · B1 · B2 levels available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3–5 key words translated per article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news — not textbook Dutch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108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Gradual language acquisition through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real-world, relevant content daily.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794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For: Learners at any stage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5196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⟷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279392" y="28346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User Flow — Zero Friction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104" y="1051560"/>
            <a:ext cx="640080" cy="640080"/>
          </a:xfrm>
          <a:prstGeom prst="oval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47088" y="1335024"/>
            <a:ext cx="320040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1234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1810512"/>
            <a:ext cx="1481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1810512"/>
            <a:ext cx="1481328" cy="4572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9202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Join Telegram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395728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app install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required. Just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9464" y="1051560"/>
            <a:ext cx="640080" cy="640080"/>
          </a:xfrm>
          <a:prstGeom prst="oval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9464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1335024"/>
            <a:ext cx="320040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9896" y="1234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1810512"/>
            <a:ext cx="1481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48840" y="1810512"/>
            <a:ext cx="1481328" cy="4572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9202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40280" y="2395728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language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Dutch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learner.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06824" y="1051560"/>
            <a:ext cx="640080" cy="640080"/>
          </a:xfrm>
          <a:prstGeom prst="oval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06824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321808" y="1335024"/>
            <a:ext cx="320040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1234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86200" y="1810512"/>
            <a:ext cx="1481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86200" y="1810512"/>
            <a:ext cx="1481328" cy="4572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977640" y="19202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Intensity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2395728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1–2, 3–5, 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6–10 articles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day.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44184" y="1051560"/>
            <a:ext cx="640080" cy="640080"/>
          </a:xfrm>
          <a:prstGeom prst="oval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44184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059168" y="1335024"/>
            <a:ext cx="320040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14616" y="123444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623560" y="1810512"/>
            <a:ext cx="1481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623560" y="1810512"/>
            <a:ext cx="1481328" cy="4572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15000" y="19202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Daily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715000" y="2395728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articles via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/news command.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781544" y="1051560"/>
            <a:ext cx="640080" cy="640080"/>
          </a:xfrm>
          <a:prstGeom prst="oval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81544" y="106984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360920" y="1810512"/>
            <a:ext cx="14813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360920" y="1810512"/>
            <a:ext cx="148132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1920240"/>
            <a:ext cx="1298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452360" y="2395728"/>
            <a:ext cx="1298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skills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grow. Civic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 rises.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4224528"/>
            <a:ext cx="8321040" cy="640080"/>
          </a:xfrm>
          <a:prstGeom prst="rect">
            <a:avLst/>
          </a:prstGeom>
          <a:solidFill>
            <a:srgbClr val="FDEBD8"/>
          </a:solidFill>
          <a:ln w="12700">
            <a:solidFill>
              <a:srgbClr val="FDEB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297680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📡  Content sourced from NOS Binnenland RSS — the Netherlands' most trusted national news source. Categories include: integration, housing, work, education, politics, healthcare, transport &amp; culture.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Underserved Population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graphicFrame>
        <p:nvGraphicFramePr>
          <p:cNvPr id="9" name="Chart 0" descr=""/>
          <p:cNvGraphicFramePr/>
          <p:nvPr/>
        </p:nvGraphicFramePr>
        <p:xfrm>
          <a:off x="411480" y="1005840"/>
          <a:ext cx="475488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394960" y="1005840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394960" y="1005840"/>
            <a:ext cx="3337560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117043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302,199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394960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immigrants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394960" y="1993392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94960" y="1993392"/>
            <a:ext cx="3337560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94960" y="2157984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127,500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5394960" y="2679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Non-EU immigrants (2023)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94960" y="2980944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394960" y="2980944"/>
            <a:ext cx="3337560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94960" y="31455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~100,000</a:t>
            </a:r>
            <a:endParaRPr lang="en-US" sz="3000" dirty="0"/>
          </a:p>
        </p:txBody>
      </p:sp>
      <p:sp>
        <p:nvSpPr>
          <p:cNvPr id="21" name="Text 18"/>
          <p:cNvSpPr/>
          <p:nvPr/>
        </p:nvSpPr>
        <p:spPr>
          <a:xfrm>
            <a:off x="5394960" y="3666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Ukrainian refugees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394960" y="3968496"/>
            <a:ext cx="3337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94960" y="3968496"/>
            <a:ext cx="3337560" cy="36576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94960" y="4133088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000" dirty="0"/>
          </a:p>
        </p:txBody>
      </p:sp>
      <p:sp>
        <p:nvSpPr>
          <p:cNvPr id="25" name="Text 22"/>
          <p:cNvSpPr/>
          <p:nvPr/>
        </p:nvSpPr>
        <p:spPr>
          <a:xfrm>
            <a:off x="5394960" y="46542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Languages supported at launch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GOVERNMENT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Policy Landscape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24128"/>
            <a:ext cx="3977640" cy="3767328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155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Municipal Integration Budget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1444752"/>
            <a:ext cx="3657600" cy="27432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Annual municipal budget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1572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€82–100M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1920240"/>
            <a:ext cx="3611880" cy="9144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23113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status holder (2026 cohort)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54680" y="223113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€6,087–4,718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2578608"/>
            <a:ext cx="3611880" cy="9144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89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bonus per completion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288950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€856.51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3236976"/>
            <a:ext cx="3611880" cy="9144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Performance-linked share (new 2026)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54680" y="35478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860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480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Dutch Government Official Gazette, Sept 2025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754880" y="1024128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24128"/>
            <a:ext cx="54864" cy="8229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097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Actieagenda Integratie (2025)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371600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+ employment as cornerstones. StepIn delivers daily language exposure from day of arrival.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1965960"/>
            <a:ext cx="54864" cy="8229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0391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Interim Evaluation Findings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2313432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Addresses all 3 key problems: waiting times, sustainable employment, and work-language combination.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2907792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2907792"/>
            <a:ext cx="54864" cy="8229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980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Performance-Based Funding (2026)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92040" y="3255264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 of funding tied to successful completion. StepIn accelerates outcomes = more municipal funding.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3849624"/>
            <a:ext cx="39776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3849624"/>
            <a:ext cx="54864" cy="8229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922776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Activation in AZCs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4197096"/>
            <a:ext cx="3703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 from day of arrival, even before formal integration enrollment — no infrastructure needed.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BUSINESS CASE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Significant Cost Savings for Municipalities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24128"/>
            <a:ext cx="8321040" cy="109728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51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€22.5M – €36M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Estimated annual savings across 30,000 status holders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60720" y="1097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Rotterdam pilot data and municipal estimates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14173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20–30% reduction in interpretation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accelerated time to language proficiency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240280"/>
          <a:ext cx="832104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  <a:gridCol w="1737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 Category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Current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With StepIn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Savings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Interpretation services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€2,500–4,000/year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€1,750–2,800/year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60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€750–1,200 per person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Language exposure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€500–3,000 (courses)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€11–18/year (supplement)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60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90–95% reduction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Time to proficiency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Standard timeline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Accelerated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60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Earlier employment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Performance funding gain (10% more completions)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8601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+€2.57M additional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11480" y="42793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StepIn supplements, not replaces, formal language courses — reducing time to completion and interpretation costs.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Model: B2B2C Freemium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51560"/>
            <a:ext cx="2670048" cy="3749040"/>
          </a:xfrm>
          <a:prstGeom prst="rect">
            <a:avLst/>
          </a:prstGeom>
          <a:solidFill>
            <a:srgbClr val="F0EBE1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Pilot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527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1984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months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295144"/>
            <a:ext cx="2423160" cy="18288"/>
          </a:xfrm>
          <a:prstGeom prst="rect">
            <a:avLst/>
          </a:prstGeom>
          <a:solidFill>
            <a:srgbClr val="E0D9D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Up to 500 users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28254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9 language modes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227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Basic usage analytics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Telegram bot only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032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Email support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051560"/>
            <a:ext cx="2670048" cy="37490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051560"/>
            <a:ext cx="2670048" cy="292608"/>
          </a:xfrm>
          <a:prstGeom prst="rect">
            <a:avLst/>
          </a:prstGeom>
          <a:solidFill>
            <a:srgbClr val="D95A18"/>
          </a:solidFill>
          <a:ln w="12700">
            <a:solidFill>
              <a:srgbClr val="D95A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069848"/>
            <a:ext cx="2670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RECOMMENDED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4992" y="1371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Municipal License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64992" y="17556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€0.15–0.30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64992" y="22128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user / month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64992" y="2523744"/>
            <a:ext cx="2423160" cy="18288"/>
          </a:xfrm>
          <a:prstGeom prst="rect">
            <a:avLst/>
          </a:prstGeom>
          <a:solidFill>
            <a:srgbClr val="D95A1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2651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Unlimited users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64992" y="30540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All 9 languages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64992" y="34564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Advanced analytics dashboard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364992" y="38587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Integration with existing programs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364992" y="42611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Dedicated account manager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044184" y="1051560"/>
            <a:ext cx="2670048" cy="374904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81344" y="1143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/ NGO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81344" y="152704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181344" y="19842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81344" y="2295144"/>
            <a:ext cx="2423160" cy="18288"/>
          </a:xfrm>
          <a:prstGeom prst="rect">
            <a:avLst/>
          </a:prstGeom>
          <a:solidFill>
            <a:srgbClr val="3D342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81344" y="24231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10,000+ users with caching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81344" y="282549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€0.06–0.12 per user/month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81344" y="322783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White-labeling available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81344" y="36301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API access &amp; reporting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1344" y="403250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European expansion support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Lightweight, Scalable, Zero-Infrastructure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645920"/>
            <a:ext cx="1645920" cy="822960"/>
          </a:xfrm>
          <a:prstGeom prst="rect">
            <a:avLst/>
          </a:prstGeom>
          <a:solidFill>
            <a:srgbClr val="F0EBE1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 Binnenland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RSS Feed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21408" y="2034540"/>
            <a:ext cx="283464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86584" y="1947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1645920"/>
            <a:ext cx="1463040" cy="82296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2316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04488" y="2034540"/>
            <a:ext cx="283464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1947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0" y="1645920"/>
            <a:ext cx="1645920" cy="82296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Claude API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(Anthropic)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70448" y="2034540"/>
            <a:ext cx="237744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1947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645920"/>
            <a:ext cx="1554480" cy="822960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645920"/>
            <a:ext cx="15544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StepIn Bot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(Python)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699248" y="2034540"/>
            <a:ext cx="237744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18704" y="1947672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6E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955280" y="1645920"/>
            <a:ext cx="822960" cy="822960"/>
          </a:xfrm>
          <a:prstGeom prst="rect">
            <a:avLst/>
          </a:prstGeom>
          <a:solidFill>
            <a:srgbClr val="F0EBE1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9552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2532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Source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423160" y="25328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Relevance Filter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6240" y="25328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Translation &amp; Simplification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253288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 Logic &amp; User Mgmt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955280" y="25328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User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2926080"/>
          <a:ext cx="8321040" cy="178308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5661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Component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Technology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Rationale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1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Platform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Telegram Bot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app install, 700M+ users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Translation / AI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Claude API (Anthropic)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quality, scalable translation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Content Source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NOS Binnenland RSS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Trusted Dutch national news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Backend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Python + python-telegram-bot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Lightweight, easy to maintain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Data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SQLite / JSON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D342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 state management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E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4-Phase Growth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28800"/>
            <a:ext cx="7635240" cy="45720"/>
          </a:xfrm>
          <a:prstGeom prst="rect">
            <a:avLst/>
          </a:prstGeom>
          <a:solidFill>
            <a:srgbClr val="7A6E65"/>
          </a:solidFill>
          <a:ln w="12700">
            <a:solidFill>
              <a:srgbClr val="7A6E6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4440" y="1719072"/>
            <a:ext cx="256032" cy="256032"/>
          </a:xfrm>
          <a:prstGeom prst="oval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011680"/>
            <a:ext cx="1965960" cy="274320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011680"/>
            <a:ext cx="1965960" cy="4572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70432" y="2084832"/>
            <a:ext cx="640080" cy="640080"/>
          </a:xfrm>
          <a:prstGeom prst="oval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103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MVP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8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 2025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2648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Telegram bot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9 languages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" y="3968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Keyword filtering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2648" y="4251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NOS RSS content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7240" y="4517136"/>
            <a:ext cx="1417320" cy="201168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5171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Launched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83280" y="1719072"/>
            <a:ext cx="256032" cy="256032"/>
          </a:xfrm>
          <a:prstGeom prst="oval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201168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51760" y="2011680"/>
            <a:ext cx="1965960" cy="45720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9272" y="2084832"/>
            <a:ext cx="640080" cy="640080"/>
          </a:xfrm>
          <a:prstGeom prst="oval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2103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651760" y="2798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651760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 2025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61488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Push notifications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61488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Streak tracking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61488" y="3968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Audio articles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61488" y="4251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User analytics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926080" y="4517136"/>
            <a:ext cx="1417320" cy="201168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45171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532120" y="1719072"/>
            <a:ext cx="256032" cy="256032"/>
          </a:xfrm>
          <a:prstGeom prst="oval">
            <a:avLst/>
          </a:prstGeom>
          <a:solidFill>
            <a:srgbClr val="F4894A"/>
          </a:solidFill>
          <a:ln w="12700">
            <a:solidFill>
              <a:srgbClr val="F489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01168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2011680"/>
            <a:ext cx="1965960" cy="45720"/>
          </a:xfrm>
          <a:prstGeom prst="rect">
            <a:avLst/>
          </a:prstGeom>
          <a:solidFill>
            <a:srgbClr val="F4894A"/>
          </a:solidFill>
          <a:ln w="12700">
            <a:solidFill>
              <a:srgbClr val="F489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68112" y="2084832"/>
            <a:ext cx="640080" cy="640080"/>
          </a:xfrm>
          <a:prstGeom prst="oval">
            <a:avLst/>
          </a:prstGeom>
          <a:solidFill>
            <a:srgbClr val="F4894A"/>
          </a:solidFill>
          <a:ln w="12700">
            <a:solidFill>
              <a:srgbClr val="F489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8112" y="2103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00600" y="2798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App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00600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10328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Web dashboard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10328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Learning progress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10328" y="3968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Municipality portal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10328" y="4251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Pilot program tools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74920" y="4517136"/>
            <a:ext cx="1417320" cy="201168"/>
          </a:xfrm>
          <a:prstGeom prst="rect">
            <a:avLst/>
          </a:prstGeom>
          <a:solidFill>
            <a:srgbClr val="F4894A"/>
          </a:solidFill>
          <a:ln w="12700">
            <a:solidFill>
              <a:srgbClr val="F489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74920" y="45171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680960" y="1719072"/>
            <a:ext cx="256032" cy="256032"/>
          </a:xfrm>
          <a:prstGeom prst="oval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2011680"/>
            <a:ext cx="19659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949440" y="2011680"/>
            <a:ext cx="1965960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16952" y="2084832"/>
            <a:ext cx="640080" cy="640080"/>
          </a:xfrm>
          <a:prstGeom prst="oval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16952" y="21031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49440" y="2798064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6949440" y="30906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2026+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059168" y="34015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Mobile apps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7059168" y="368503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20+ languages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7059168" y="3968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European expansion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7059168" y="425196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API for partners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223760" y="4517136"/>
            <a:ext cx="1417320" cy="201168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0" y="451713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IMPACT &amp; METRICS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34747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6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Outcomes, From Day 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86968"/>
            <a:ext cx="1664208" cy="45720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75688" y="886968"/>
            <a:ext cx="1664208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39896" y="886968"/>
            <a:ext cx="1664208" cy="45720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04104" y="886968"/>
            <a:ext cx="1664208" cy="4572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68312" y="886968"/>
            <a:ext cx="1664208" cy="45720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024128"/>
            <a:ext cx="1938528" cy="123444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10789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480" y="164592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active users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(target, pilot)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1024128"/>
            <a:ext cx="1938528" cy="1234440"/>
          </a:xfrm>
          <a:prstGeom prst="rect">
            <a:avLst/>
          </a:prstGeom>
          <a:solidFill>
            <a:srgbClr val="1A1612"/>
          </a:solidFill>
          <a:ln w="12700">
            <a:solidFill>
              <a:srgbClr val="1A161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0789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20–30%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42032" y="164592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Reduction 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interpretation requests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024128"/>
            <a:ext cx="1938528" cy="1234440"/>
          </a:xfrm>
          <a:prstGeom prst="rect">
            <a:avLst/>
          </a:prstGeom>
          <a:solidFill>
            <a:srgbClr val="3D342C"/>
          </a:solidFill>
          <a:ln w="12700">
            <a:solidFill>
              <a:srgbClr val="3D342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72584" y="10789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90–95%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672584" y="164592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cost for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supplemental exposure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03136" y="1024128"/>
            <a:ext cx="1938528" cy="1234440"/>
          </a:xfrm>
          <a:prstGeom prst="rect">
            <a:avLst/>
          </a:prstGeom>
          <a:solidFill>
            <a:srgbClr val="D95A18"/>
          </a:solidFill>
          <a:ln w="12700">
            <a:solidFill>
              <a:srgbClr val="D95A1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03136" y="1078992"/>
            <a:ext cx="19385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€856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03136" y="1645920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bonus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extra completion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242316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423160"/>
            <a:ext cx="267004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" y="2505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Status Holders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" y="2871216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Immediate access to Dutch society from day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Vocabulary growth through real-world content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Greater civic participation (Boyd, 2012)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Better job readiness and earlier employment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27832" y="242316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27832" y="2423160"/>
            <a:ext cx="267004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505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Municipalities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2871216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€750–1,200 savings per person on interpretation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Performance funding gains from faster completions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Seamless integration with existing programs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Real-time usage analytics and reporting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44184" y="2423160"/>
            <a:ext cx="267004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B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44184" y="2423160"/>
            <a:ext cx="2670048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912" y="250545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61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Integration 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53912" y="2871216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Bridges the 2+ year waiting period gap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Scales across 302,000+ annual immigrants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Works alongside — not replacing — formal courses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D34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Research-backed, evidence-based approach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" cy="146304"/>
          </a:xfrm>
          <a:prstGeom prst="rect">
            <a:avLst/>
          </a:prstGeom>
          <a:solidFill>
            <a:srgbClr val="008C45"/>
          </a:solidFill>
          <a:ln w="12700">
            <a:solidFill>
              <a:srgbClr val="008C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0" y="0"/>
            <a:ext cx="1828800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0"/>
            <a:ext cx="1828800" cy="146304"/>
          </a:xfrm>
          <a:prstGeom prst="rect">
            <a:avLst/>
          </a:prstGeom>
          <a:solidFill>
            <a:srgbClr val="DA0000"/>
          </a:solidFill>
          <a:ln w="12700">
            <a:solidFill>
              <a:srgbClr val="DA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0"/>
            <a:ext cx="1828800" cy="14630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1828800" cy="146304"/>
          </a:xfrm>
          <a:prstGeom prst="rect">
            <a:avLst/>
          </a:prstGeom>
          <a:solidFill>
            <a:srgbClr val="0057B7"/>
          </a:solidFill>
          <a:ln w="12700">
            <a:solidFill>
              <a:srgbClr val="0057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926080"/>
            <a:ext cx="3657600" cy="3657600"/>
          </a:xfrm>
          <a:prstGeom prst="oval">
            <a:avLst/>
          </a:prstGeom>
          <a:solidFill>
            <a:srgbClr val="E8601C">
              <a:alpha val="15000"/>
            </a:srgbClr>
          </a:solidFill>
          <a:ln w="12700">
            <a:solidFill>
              <a:srgbClr val="E8601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47472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Pilot?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8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upfront cost. 3-month trial. Measurable outcomes.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627632"/>
            <a:ext cx="3749040" cy="2331720"/>
          </a:xfrm>
          <a:prstGeom prst="rect">
            <a:avLst/>
          </a:prstGeom>
          <a:solidFill>
            <a:srgbClr val="28221E"/>
          </a:solidFill>
          <a:ln w="12700">
            <a:solidFill>
              <a:srgbClr val="2822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1627632"/>
            <a:ext cx="3749040" cy="45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Provide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121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Daily news in 9 languages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2514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Simplified Dutch + translations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9077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Usage analytics &amp; reporting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3009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A8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Integration with existing programs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0" y="1627632"/>
            <a:ext cx="3749040" cy="2331720"/>
          </a:xfrm>
          <a:prstGeom prst="rect">
            <a:avLst/>
          </a:prstGeom>
          <a:solidFill>
            <a:srgbClr val="E8601C"/>
          </a:solidFill>
          <a:ln w="12700">
            <a:solidFill>
              <a:srgbClr val="E860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69164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Provide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09160" y="21214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Access to status holders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251460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Feedback loop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09160" y="29077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Pilot evaluation participation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09160" y="330098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DEB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 One champion to coordinate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1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hello@stepin.app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89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stepin.app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LinkedIn: /company/stepin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114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StepIn is an independent initiative supported by research from the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7A6E6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University of Amsterdam, aligned with the Civic Integration Act recommendations.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StepIn Pitch Deck</dc:title>
  <dc:subject>PptxGenJS Presentation</dc:subject>
  <dc:creator>StepIn</dc:creator>
  <cp:lastModifiedBy>StepIn</cp:lastModifiedBy>
  <cp:revision>1</cp:revision>
  <dcterms:created xsi:type="dcterms:W3CDTF">2026-03-27T20:27:46Z</dcterms:created>
  <dcterms:modified xsi:type="dcterms:W3CDTF">2026-03-27T20:27:46Z</dcterms:modified>
</cp:coreProperties>
</file>